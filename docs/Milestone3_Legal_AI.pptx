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7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tIns="11887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Container Architecture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FD6D8"/>
                </a:solidFill>
                <a:latin typeface="Segoe UI"/>
              </a:rPr>
              <a:t>Slide 1 · Legal AI Hub — one image, two machines  ·  services, ports, volumes,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24128"/>
            <a:ext cx="2880360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0F7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3A5E"/>
                </a:solidFill>
                <a:latin typeface="Segoe UI"/>
              </a:rPr>
              <a:t>Browser</a:t>
            </a:r>
            <a:r>
              <a:rPr sz="1100" b="0" i="0">
                <a:solidFill>
                  <a:srgbClr val="5A6773"/>
                </a:solidFill>
                <a:latin typeface="Segoe UI"/>
              </a:rPr>
              <a:t>  →  host port </a:t>
            </a:r>
            <a:r>
              <a:rPr sz="1100" b="0" i="0">
                <a:solidFill>
                  <a:srgbClr val="0F7672"/>
                </a:solidFill>
                <a:latin typeface="Consolas"/>
              </a:rPr>
              <a:t>8501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408176"/>
            <a:ext cx="0" cy="164592"/>
          </a:xfrm>
          <a:prstGeom prst="line">
            <a:avLst/>
          </a:prstGeom>
          <a:ln w="19050">
            <a:solidFill>
              <a:srgbClr val="0F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572768"/>
            <a:ext cx="758952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7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444C"/>
                </a:solidFill>
                <a:latin typeface="Segoe UI"/>
              </a:rPr>
              <a:t>Docker host  —  identical on the laptop and on the Azure VM (Milestone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132320" cy="2286000"/>
          </a:xfrm>
          <a:prstGeom prst="roundRect">
            <a:avLst>
              <a:gd name="adj" fmla="val 4000"/>
            </a:avLst>
          </a:prstGeom>
          <a:solidFill>
            <a:srgbClr val="ECF3F3"/>
          </a:solidFill>
          <a:ln w="12700">
            <a:solidFill>
              <a:srgbClr val="0F7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72"/>
                </a:solidFill>
                <a:latin typeface="Segoe UI"/>
              </a:rPr>
              <a:t>network: legal-ai-net   (user-defined bridge · only 8501 published)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667512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1887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03A5E"/>
                </a:solidFill>
                <a:latin typeface="Segoe UI"/>
              </a:rPr>
              <a:t>service: app</a:t>
            </a:r>
            <a:r>
              <a:rPr sz="1200" b="0" i="0">
                <a:solidFill>
                  <a:srgbClr val="1F2833"/>
                </a:solidFill>
                <a:latin typeface="Segoe UI"/>
              </a:rPr>
              <a:t>      </a:t>
            </a:r>
            <a:r>
              <a:rPr sz="1250" b="0" i="0">
                <a:solidFill>
                  <a:srgbClr val="0F7672"/>
                </a:solidFill>
                <a:latin typeface="Consolas"/>
              </a:rPr>
              <a:t>legal-ai-hub:v1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773"/>
                </a:solidFill>
                <a:latin typeface="Segoe UI"/>
              </a:rPr>
              <a:t>Streamlit multi-page UI, 6 RAG features  ·  container port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8501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  ·  runs as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USER appuser (uid 10001)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7444C"/>
                </a:solidFill>
                <a:latin typeface="Segoe UI"/>
              </a:rPr>
              <a:t>Baked into the image: 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/opt/venv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 deps  · 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/opt/hf-cache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 MiniLM weights  · 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/app/data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 510 seed docs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B332B"/>
                </a:solidFill>
                <a:latin typeface="Segoe UI"/>
              </a:rPr>
              <a:t>Injected at run time:  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all four API keys, via compose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env_file</a:t>
            </a:r>
            <a:r>
              <a:rPr sz="1050" b="0" i="0">
                <a:solidFill>
                  <a:srgbClr val="5A6773"/>
                </a:solidFill>
                <a:latin typeface="Segoe UI"/>
              </a:rPr>
              <a:t> — never in a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91440" cy="1664208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251960" y="4224528"/>
            <a:ext cx="0" cy="457200"/>
          </a:xfrm>
          <a:prstGeom prst="line">
            <a:avLst/>
          </a:prstGeom>
          <a:ln w="19050">
            <a:solidFill>
              <a:srgbClr val="0F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442569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3"/>
                </a:solidFill>
                <a:latin typeface="Segoe UI"/>
              </a:rPr>
              <a:t>named volume mounts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81728"/>
            <a:ext cx="2194560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058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3A5E"/>
                </a:solidFill>
                <a:latin typeface="Segoe UI"/>
              </a:rPr>
              <a:t>legal-ai-chroma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F7672"/>
                </a:solidFill>
                <a:latin typeface="Consolas"/>
              </a:rPr>
              <a:t>→ /app/chromadb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773"/>
                </a:solidFill>
                <a:latin typeface="Segoe UI"/>
              </a:rPr>
              <a:t>contract Q&amp;A, policies,
audit, contract risk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444C"/>
                </a:solidFill>
                <a:latin typeface="Segoe UI"/>
              </a:rPr>
              <a:t>143 MB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681728"/>
            <a:ext cx="2194560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058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3A5E"/>
                </a:solidFill>
                <a:latin typeface="Segoe UI"/>
              </a:rPr>
              <a:t>legal-ai-litigation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F7672"/>
                </a:solidFill>
                <a:latin typeface="Consolas"/>
              </a:rPr>
              <a:t>→ /app/vector_store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773"/>
                </a:solidFill>
                <a:latin typeface="Segoe UI"/>
              </a:rPr>
              <a:t>litigation support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444C"/>
                </a:solidFill>
                <a:latin typeface="Segoe UI"/>
              </a:rPr>
              <a:t>59 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681728"/>
            <a:ext cx="2194560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058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03A5E"/>
                </a:solidFill>
                <a:latin typeface="Segoe UI"/>
              </a:rPr>
              <a:t>legal-ai-regulations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F7672"/>
                </a:solidFill>
                <a:latin typeface="Consolas"/>
              </a:rPr>
              <a:t>→ /app/.chromadb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773"/>
                </a:solidFill>
                <a:latin typeface="Segoe UI"/>
              </a:rPr>
              <a:t>live regulations search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444C"/>
                </a:solidFill>
                <a:latin typeface="Segoe UI"/>
              </a:rPr>
              <a:t>grows on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3"/>
                </a:solidFill>
                <a:latin typeface="Segoe UI"/>
              </a:rPr>
              <a:t>Vector indexes are the only mutable state — they survive  docker compose down  and image version swaps.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2240280"/>
            <a:ext cx="274320" cy="0"/>
          </a:xfrm>
          <a:prstGeom prst="line">
            <a:avLst/>
          </a:prstGeom>
          <a:ln w="19050">
            <a:solidFill>
              <a:srgbClr val="0F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21040" y="1572768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3A5E"/>
                </a:solidFill>
                <a:latin typeface="Segoe UI"/>
              </a:rPr>
              <a:t>HTTPS egress only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773"/>
                </a:solidFill>
                <a:latin typeface="Segoe UI"/>
              </a:rPr>
              <a:t>Groq · CourtListener · Apify · Regulations.gov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No inbound path except 8501. Keys supplied per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27248"/>
            <a:ext cx="3429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17444C"/>
                </a:solidFill>
                <a:latin typeface="Segoe UI"/>
              </a:rPr>
              <a:t>WHAT THIS BUYS 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F7672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One service, one artifact: </a:t>
            </a:r>
            <a:r>
              <a:rPr sz="1050" b="0" i="0">
                <a:solidFill>
                  <a:srgbClr val="0F7672"/>
                </a:solidFill>
                <a:latin typeface="Consolas"/>
              </a:rPr>
              <a:t>legal-ai-hub:v1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F7672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Port mapping is unchanged from Milestone 2, so the app answers on the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same URL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F7672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1.51 GB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 on disk,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513 MB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 to pull —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86 % smaller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 than our first build (10.73 GB)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F7672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Same </a:t>
            </a:r>
            <a:r>
              <a:rPr sz="1050" b="0" i="0">
                <a:solidFill>
                  <a:srgbClr val="0F7672"/>
                </a:solidFill>
                <a:latin typeface="Consolas"/>
              </a:rPr>
              <a:t>sha256: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 digest on the laptop and the VM — byte-for-byte one artifact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F7672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Zero secrets in the image, verified by scanning </a:t>
            </a:r>
            <a:r>
              <a:rPr sz="1050" b="1" i="0">
                <a:solidFill>
                  <a:srgbClr val="1F2833"/>
                </a:solidFill>
                <a:latin typeface="Segoe UI"/>
              </a:rPr>
              <a:t>all layers</a:t>
            </a:r>
            <a:r>
              <a:rPr sz="1050" b="0" i="0">
                <a:solidFill>
                  <a:srgbClr val="1F2833"/>
                </a:solidFill>
                <a:latin typeface="Segoe UI"/>
              </a:rPr>
              <a:t> of the saved tarball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7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tIns="11887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Before and After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FD6D8"/>
                </a:solidFill>
                <a:latin typeface="Segoe UI"/>
              </a:rPr>
              <a:t>Slide 2 · Hand-built VM versus a versioned container artifact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78992"/>
          <a:ext cx="7589520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2834640"/>
                <a:gridCol w="2971800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9728" marR="109728">
                    <a:solidFill>
                      <a:srgbClr val="17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Milestone 2 — manual VM</a:t>
                      </a:r>
                    </a:p>
                  </a:txBody>
                  <a:tcPr anchor="ctr" marL="109728" marR="109728">
                    <a:solidFill>
                      <a:srgbClr val="17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Milestone 3 — container</a:t>
                      </a:r>
                    </a:p>
                  </a:txBody>
                  <a:tcPr anchor="ctr" marL="109728" marR="109728">
                    <a:solidFill>
                      <a:srgbClr val="17444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Deploy steps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~12 manual commands over SSH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7444C"/>
                          </a:solidFill>
                          <a:latin typeface="Consolas"/>
                        </a:rPr>
                        <a:t>docker compose pull &amp;&amp; up -d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Time to deploy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25–40 minutes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444C"/>
                          </a:solidFill>
                          <a:latin typeface="Segoe UI"/>
                        </a:rPr>
                        <a:t>~2 minutes (pull + start)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Python runtime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whatever apt happened to give us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7444C"/>
                          </a:solidFill>
                          <a:latin typeface="Consolas"/>
                        </a:rPr>
                        <a:t>pinned python:3.12-slim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Dependencies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pip resolved live, different each run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444C"/>
                          </a:solidFill>
                          <a:latin typeface="Segoe UI"/>
                        </a:rPr>
                        <a:t>frozen into an image layer at build time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510 seed documents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scp'd to the VM by hand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444C"/>
                          </a:solidFill>
                          <a:latin typeface="Segoe UI"/>
                        </a:rPr>
                        <a:t>shipped inside the image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Embedding model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downloaded from HF on first use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444C"/>
                          </a:solidFill>
                          <a:latin typeface="Segoe UI"/>
                        </a:rPr>
                        <a:t>pre-baked, runs fully offline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Rollback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reinstall and hope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7444C"/>
                          </a:solidFill>
                          <a:latin typeface="Consolas"/>
                        </a:rPr>
                        <a:t>TAG=v1 and restart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03A5E"/>
                          </a:solidFill>
                          <a:latin typeface="Segoe UI"/>
                        </a:rPr>
                        <a:t>Reproducibility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A6773"/>
                          </a:solidFill>
                          <a:latin typeface="Segoe UI"/>
                        </a:rPr>
                        <a:t>“works on my machine”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444C"/>
                          </a:solidFill>
                          <a:latin typeface="Segoe UI"/>
                        </a:rPr>
                        <a:t>same sha256 digest on both machines</a:t>
                      </a:r>
                    </a:p>
                  </a:txBody>
                  <a:tcPr anchor="ctr" marL="109728" marR="109728" marT="18288" marB="18288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21040" y="1078992"/>
            <a:ext cx="340156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03A5E"/>
                </a:solidFill>
                <a:latin typeface="Segoe UI"/>
              </a:rPr>
              <a:t>1.51 GB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final image · 513 MB to pull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078992"/>
            <a:ext cx="82296" cy="768096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1975104"/>
            <a:ext cx="340156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03A5E"/>
                </a:solidFill>
                <a:latin typeface="Segoe UI"/>
              </a:rPr>
              <a:t>86 %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smaller than our naive first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975104"/>
            <a:ext cx="82296" cy="768096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2871216"/>
            <a:ext cx="340156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03A5E"/>
                </a:solidFill>
                <a:latin typeface="Segoe UI"/>
              </a:rPr>
              <a:t>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secrets found in 513 MB of 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871216"/>
            <a:ext cx="82296" cy="768096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3767328"/>
            <a:ext cx="340156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1887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7444C"/>
                </a:solidFill>
                <a:latin typeface="Segoe UI"/>
              </a:rPr>
              <a:t>BUDGET GUARDRAILS STILL ACTIVE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Subscription-scoped budget </a:t>
            </a:r>
            <a:r>
              <a:rPr sz="950" b="0" i="0">
                <a:solidFill>
                  <a:srgbClr val="1F2833"/>
                </a:solidFill>
                <a:latin typeface="Consolas"/>
              </a:rPr>
              <a:t>legal-ai-monthly</a:t>
            </a:r>
            <a:r>
              <a:rPr sz="950" b="0" i="0">
                <a:solidFill>
                  <a:srgbClr val="5A6773"/>
                </a:solidFill>
                <a:latin typeface="Segoe UI"/>
              </a:rPr>
              <a:t> — covers registry, VM, disk, IP and egress.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Alerts at </a:t>
            </a:r>
            <a:r>
              <a:rPr sz="950" b="1" i="0">
                <a:solidFill>
                  <a:srgbClr val="103A5E"/>
                </a:solidFill>
                <a:latin typeface="Segoe UI"/>
              </a:rPr>
              <a:t>10 % · 20 % · 25 % · 50 % · 100 %</a:t>
            </a:r>
            <a:r>
              <a:rPr sz="950" b="0" i="0">
                <a:solidFill>
                  <a:srgbClr val="5A6773"/>
                </a:solidFill>
                <a:latin typeface="Segoe UI"/>
              </a:rPr>
              <a:t> of actual spend, emailing the whole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41648"/>
            <a:ext cx="7589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56032" t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9B332B"/>
                </a:solidFill>
                <a:latin typeface="Segoe UI"/>
              </a:rPr>
              <a:t>THE SPECIFIC PROBLEM CONTAINERIZATION SOLVED FOR OUR TEAM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03A5E"/>
                </a:solidFill>
                <a:latin typeface="Segoe UI"/>
              </a:rPr>
              <a:t>Our laptops and the VM had silently drifted apart.</a:t>
            </a:r>
            <a:r>
              <a:rPr sz="1150" b="0" i="0">
                <a:solidFill>
                  <a:srgbClr val="1F2833"/>
                </a:solidFill>
                <a:latin typeface="Segoe UI"/>
              </a:rPr>
              <a:t> The VM resolved a different transitive dependency set than our laptops did, so a feature that worked locally failed on the VM and we burned hours diffing </a:t>
            </a:r>
            <a:r>
              <a:rPr sz="1050" b="0" i="0">
                <a:solidFill>
                  <a:srgbClr val="1F2833"/>
                </a:solidFill>
                <a:latin typeface="Consolas"/>
              </a:rPr>
              <a:t>pip freeze</a:t>
            </a:r>
            <a:r>
              <a:rPr sz="1150" b="0" i="0">
                <a:solidFill>
                  <a:srgbClr val="1F2833"/>
                </a:solidFill>
                <a:latin typeface="Segoe UI"/>
              </a:rPr>
              <a:t> output over SSH. Nobody could say what was actually deployed, because the VM's state was the sum of every command anyone had ever typed into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3A5E"/>
                </a:solidFill>
                <a:latin typeface="Segoe UI"/>
              </a:rPr>
              <a:t>The image removes the guesswork.</a:t>
            </a:r>
            <a:r>
              <a:rPr sz="1150" b="0" i="0">
                <a:solidFill>
                  <a:srgbClr val="1F2833"/>
                </a:solidFill>
                <a:latin typeface="Segoe UI"/>
              </a:rPr>
              <a:t> The dependency set is resolved </a:t>
            </a:r>
            <a:r>
              <a:rPr sz="1150" b="1" i="0">
                <a:solidFill>
                  <a:srgbClr val="1F2833"/>
                </a:solidFill>
                <a:latin typeface="Segoe UI"/>
              </a:rPr>
              <a:t>once</a:t>
            </a:r>
            <a:r>
              <a:rPr sz="1150" b="0" i="0">
                <a:solidFill>
                  <a:srgbClr val="1F2833"/>
                </a:solidFill>
                <a:latin typeface="Segoe UI"/>
              </a:rPr>
              <a:t>, at build time, and frozen into a layer identified by a digest. The VM installs nothing — it pulls a finished artifact. </a:t>
            </a:r>
            <a:r>
              <a:rPr sz="1150" b="0" i="1">
                <a:solidFill>
                  <a:srgbClr val="1F2833"/>
                </a:solidFill>
                <a:latin typeface="Segoe UI"/>
              </a:rPr>
              <a:t>“What's running in production?” went from an investigation to reading one sha256 string.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41648"/>
            <a:ext cx="100584" cy="2286000"/>
          </a:xfrm>
          <a:prstGeom prst="rect">
            <a:avLst/>
          </a:prstGeom>
          <a:solidFill>
            <a:srgbClr val="9B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7589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773"/>
                </a:solidFill>
                <a:latin typeface="Segoe UI"/>
              </a:rPr>
              <a:t>Easier than Milestone 2: a teammate joins the project with one  docker compose up  instead of a 12-step runbook — and gets the same thing the VM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7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tIns="11887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Team Contribution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FD6D8"/>
                </a:solidFill>
                <a:latin typeface="Segoe UI"/>
              </a:rPr>
              <a:t>Slide 3 · Who owned each part of the milestone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7455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6576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03A5E"/>
                </a:solidFill>
                <a:latin typeface="Segoe UI"/>
              </a:rPr>
              <a:t>Adithi Damera and Riya Dhanduke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773"/>
                </a:solidFill>
                <a:latin typeface="Segoe UI"/>
              </a:rPr>
              <a:t>Presentation — PowerPoint slides, the demo walkthrough, and the recorded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28016" cy="1554480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7455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6576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03A5E"/>
                </a:solidFill>
                <a:latin typeface="Segoe UI"/>
              </a:rPr>
              <a:t>Amulya Kanuparthi, Yash Padhye, and Md Ansar Ur Rahman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773"/>
                </a:solidFill>
                <a:latin typeface="Segoe UI"/>
              </a:rPr>
              <a:t>Containerization — Dockerfile and .dockerignore, docker-compose wiring, the v1 push to Artifact Registry, the pull-and-run on the Azure VM, and the budget alerts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128016" cy="1554480"/>
          </a:xfrm>
          <a:prstGeom prst="rect">
            <a:avLst/>
          </a:prstGeom>
          <a:solidFill>
            <a:srgbClr val="0F7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5212079"/>
            <a:ext cx="11274552" cy="566928"/>
          </a:xfrm>
          <a:prstGeom prst="roundRect">
            <a:avLst>
              <a:gd name="adj" fmla="val 10000"/>
            </a:avLst>
          </a:prstGeom>
          <a:solidFill>
            <a:srgbClr val="EC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444C"/>
                </a:solidFill>
                <a:latin typeface="Segoe UI"/>
              </a:rPr>
              <a:t>Reviewed by all five of us: </a:t>
            </a:r>
            <a:r>
              <a:rPr sz="1150" b="0" i="0">
                <a:solidFill>
                  <a:srgbClr val="5A6773"/>
                </a:solidFill>
                <a:latin typeface="Segoe UI"/>
              </a:rPr>
              <a:t>the written analysis, the image-size measurements, and the no-secrets-in-any-layer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